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6dce57fe1f4f37" /><Relationship Type="http://schemas.openxmlformats.org/officeDocument/2006/relationships/extended-properties" Target="/docProps/app.xml" Id="R97efc8d3855c427f" /><Relationship Type="http://schemas.openxmlformats.org/officeDocument/2006/relationships/officeDocument" Target="/ppt/presentation.xml" Id="R18491ea090bd46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06291baa584327"/>
  </p:sldMasterIdLst>
  <p:notesMasterIdLst>
    <p:notesMasterId xmlns:r="http://schemas.openxmlformats.org/officeDocument/2006/relationships" r:id="R44e92eb82bf74116"/>
  </p:notesMasterIdLst>
  <p:sldIdLst>
    <p:sldId xmlns:r="http://schemas.openxmlformats.org/officeDocument/2006/relationships" id="256" r:id="R69def91bc7fa447e"/>
    <p:sldId xmlns:r="http://schemas.openxmlformats.org/officeDocument/2006/relationships" id="257" r:id="R30da790419764da7"/>
    <p:sldId xmlns:r="http://schemas.openxmlformats.org/officeDocument/2006/relationships" id="258" r:id="R6139cea83ca54878"/>
    <p:sldId xmlns:r="http://schemas.openxmlformats.org/officeDocument/2006/relationships" id="259" r:id="Rccc6c7154ae140e0"/>
    <p:sldId xmlns:r="http://schemas.openxmlformats.org/officeDocument/2006/relationships" id="260" r:id="R91f12e692178438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27520faff043c5" /><Relationship Type="http://schemas.openxmlformats.org/officeDocument/2006/relationships/slideMaster" Target="/ppt/slideMasters/slideMaster1.xml" Id="R2806291baa584327" /><Relationship Type="http://schemas.openxmlformats.org/officeDocument/2006/relationships/notesMaster" Target="/ppt/notesMasters/notesMaster1.xml" Id="R44e92eb82bf74116" /><Relationship Type="http://schemas.openxmlformats.org/officeDocument/2006/relationships/presProps" Target="/ppt/presProps.xml" Id="R2502229683244ea4" /><Relationship Type="http://schemas.openxmlformats.org/officeDocument/2006/relationships/tableStyles" Target="/ppt/tableStyles.xml" Id="R49bba95e761149e7" /><Relationship Type="http://schemas.openxmlformats.org/officeDocument/2006/relationships/slide" Target="/ppt/slides/slide1.xml" Id="R69def91bc7fa447e" /><Relationship Type="http://schemas.openxmlformats.org/officeDocument/2006/relationships/slide" Target="/ppt/slides/slide2.xml" Id="R30da790419764da7" /><Relationship Type="http://schemas.openxmlformats.org/officeDocument/2006/relationships/slide" Target="/ppt/slides/slide3.xml" Id="R6139cea83ca54878" /><Relationship Type="http://schemas.openxmlformats.org/officeDocument/2006/relationships/slide" Target="/ppt/slides/slide4.xml" Id="Rccc6c7154ae140e0" /><Relationship Type="http://schemas.openxmlformats.org/officeDocument/2006/relationships/slide" Target="/ppt/slides/slide5.xml" Id="R91f12e69217843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b00bbe4ffa48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01eb47247b49b4" /><Relationship Type="http://schemas.openxmlformats.org/officeDocument/2006/relationships/notesMaster" Target="/ppt/notesMasters/notesMaster1.xml" Id="R6a6c4b09eccf47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b6d8993cf54079" /><Relationship Type="http://schemas.openxmlformats.org/officeDocument/2006/relationships/notesMaster" Target="/ppt/notesMasters/notesMaster1.xml" Id="Rbcbfad630beb4d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ed2a4bb76b484f" /><Relationship Type="http://schemas.openxmlformats.org/officeDocument/2006/relationships/notesMaster" Target="/ppt/notesMasters/notesMaster1.xml" Id="R5620591ee19241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c2d9fece364108" /><Relationship Type="http://schemas.openxmlformats.org/officeDocument/2006/relationships/notesMaster" Target="/ppt/notesMasters/notesMaster1.xml" Id="R403f54a375f04d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9904c496b9442d" /><Relationship Type="http://schemas.openxmlformats.org/officeDocument/2006/relationships/notesMaster" Target="/ppt/notesMasters/notesMaster1.xml" Id="R583a016e78f24e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718d4c2bdf45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1cb51a329f40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3fac8f0aa145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eeaf537d54a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9e5f5cb46c4b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75f69a8ad4a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AF0164-BE8E-4F88-A2B3-D8B48B03B5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8DE0E09-21F7-440C-BEDF-B9F7700050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BA903B5-C961-46A1-BF40-A0B1F03511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AD36CB-E812-46C5-AA3E-28092DF3F3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3A3980C-99E2-46DC-AFF4-8FB76A1204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84D227-0EC0-43A3-A068-BD919540B0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E0E039-D9D1-4D08-9299-78B3ACDECF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1C74A73-4137-4FE7-84B1-57CF8978FC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ACA937-068A-4668-89FD-21F43AC338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A73C09-FB99-4D25-B4DA-8A77C8A959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383ef83c644f24" /><Relationship Type="http://schemas.openxmlformats.org/officeDocument/2006/relationships/slideLayout" Target="/ppt/slideLayouts/slideLayout1.xml" Id="R1a511361f4e94047" /><Relationship Type="http://schemas.openxmlformats.org/officeDocument/2006/relationships/slideLayout" Target="/ppt/slideLayouts/slideLayout2.xml" Id="R44db86b65502479e" /><Relationship Type="http://schemas.openxmlformats.org/officeDocument/2006/relationships/slideLayout" Target="/ppt/slideLayouts/slideLayout3.xml" Id="Rfad36b1ba8694c04" /><Relationship Type="http://schemas.openxmlformats.org/officeDocument/2006/relationships/slideLayout" Target="/ppt/slideLayouts/slideLayout4.xml" Id="R660dceefd8cc4546" /><Relationship Type="http://schemas.openxmlformats.org/officeDocument/2006/relationships/slideLayout" Target="/ppt/slideLayouts/slideLayout5.xml" Id="R12b0ca087ded4703" /><Relationship Type="http://schemas.openxmlformats.org/officeDocument/2006/relationships/slideLayout" Target="/ppt/slideLayouts/slideLayout6.xml" Id="R83b561f8f3ed4a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511361f4e94047"/>
    <p:sldLayoutId xmlns:r="http://schemas.openxmlformats.org/officeDocument/2006/relationships" id="2147483650" r:id="R44db86b65502479e"/>
    <p:sldLayoutId xmlns:r="http://schemas.openxmlformats.org/officeDocument/2006/relationships" id="2147483651" r:id="Rfad36b1ba8694c04"/>
    <p:sldLayoutId xmlns:r="http://schemas.openxmlformats.org/officeDocument/2006/relationships" id="2147483652" r:id="R660dceefd8cc4546"/>
    <p:sldLayoutId xmlns:r="http://schemas.openxmlformats.org/officeDocument/2006/relationships" id="2147483653" r:id="R12b0ca087ded4703"/>
    <p:sldLayoutId xmlns:r="http://schemas.openxmlformats.org/officeDocument/2006/relationships" id="2147483654" r:id="R83b561f8f3ed4a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be6d2638e1412a" /><Relationship Type="http://schemas.openxmlformats.org/officeDocument/2006/relationships/notesSlide" Target="/ppt/notesSlides/notesSlide1.xml" Id="R4b5979b8e3ca41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bed1defbd84311" /><Relationship Type="http://schemas.openxmlformats.org/officeDocument/2006/relationships/notesSlide" Target="/ppt/notesSlides/notesSlide2.xml" Id="R60b750efd73141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8645cba97f4c58" /><Relationship Type="http://schemas.openxmlformats.org/officeDocument/2006/relationships/notesSlide" Target="/ppt/notesSlides/notesSlide3.xml" Id="Rcc46fae7f7bb44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57b92ed33e4699" /><Relationship Type="http://schemas.openxmlformats.org/officeDocument/2006/relationships/notesSlide" Target="/ppt/notesSlides/notesSlide4.xml" Id="R11f0150df71e44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7f49e4dcec44fd" /><Relationship Type="http://schemas.openxmlformats.org/officeDocument/2006/relationships/notesSlide" Target="/ppt/notesSlides/notesSlide5.xml" Id="R6f4e2c746c9d43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B9017308-7795-4E6A-AEBD-AEB21EA1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1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defPPr>
            <a:lvl1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1pPr>
            <a:lvl2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2pPr>
            <a:lvl3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3pPr>
            <a:lvl4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4pPr>
            <a:lvl5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5pPr>
            <a:lvl6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6pPr>
            <a:lvl7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7pPr>
            <a:lvl8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8pPr>
            <a:lvl9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pPr>
            <a:r>
              <a:rPr sz="4200" b="1">
                <a:solidFill>
                  <a:srgbClr val="F4F3F0"/>
                </a:solidFill>
                <a:latin typeface="Cambria"/>
                <a:ea typeface="Cambria"/>
                <a:cs typeface="Cambria"/>
              </a:rPr>
              <a:t>Journal analysis and paper structure</a:t>
            </a:r>
          </a:p>
        </p:txBody>
      </p:sp>
      <p:sp>
        <p:nvSpPr>
          <p:cNvPr id="2" name="intro">
            <a:extLst xmlns:a="http://schemas.openxmlformats.org/drawingml/2006/main">
              <a:ext uri="{FF2B5EF4-FFF2-40B4-BE49-F238E27FC236}">
                <a16:creationId xmlns:a16="http://schemas.microsoft.com/office/drawing/2014/main" id="{D593ECB1-AB61-418F-B5F8-A14B8646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BEC2"/>
                </a:solidFill>
                <a:latin typeface="Calibri"/>
                <a:ea typeface="Calibri"/>
                <a:cs typeface="Calibri"/>
              </a:rPr>
              <a:t>Today: check your claim in an individual tutorial, then plan a paper grounded in the work you can show.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951DC057-1CFB-4F1A-B7A3-A89EE09E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58150"/>
            <a:ext cx="1238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defPPr>
            <a:lvl1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1pPr>
            <a:lvl2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2pPr>
            <a:lvl3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3pPr>
            <a:lvl4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4pPr>
            <a:lvl5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5pPr>
            <a:lvl6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6pPr>
            <a:lvl7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7pPr>
            <a:lvl8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8pPr>
            <a:lvl9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7BEC2"/>
                </a:solidFill>
                <a:latin typeface="Calibri"/>
                <a:ea typeface="Calibri"/>
                <a:cs typeface="Calibri"/>
              </a:rPr>
              <a:t>ARTD8105 · Session 10 · 28 October 2026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E72C8B9-6FD0-454F-9BFC-BCCED149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defPPr>
            <a:lvl1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1pPr>
            <a:lvl2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2pPr>
            <a:lvl3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3pPr>
            <a:lvl4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4pPr>
            <a:lvl5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5pPr>
            <a:lvl6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6pPr>
            <a:lvl7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7pPr>
            <a:lvl8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8pPr>
            <a:lvl9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7BEC2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utorial">
            <a:extLst xmlns:a="http://schemas.openxmlformats.org/drawingml/2006/main">
              <a:ext uri="{FF2B5EF4-FFF2-40B4-BE49-F238E27FC236}">
                <a16:creationId xmlns:a16="http://schemas.microsoft.com/office/drawing/2014/main" id="{8B7FC3A5-5FF0-47A0-9BF4-75BCD0BC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defPPr>
            <a:lvl1pPr>
              <a:defRPr sz="25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1pPr>
            <a:lvl2pPr>
              <a:defRPr sz="25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2pPr>
            <a:lvl3pPr>
              <a:defRPr sz="25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3pPr>
            <a:lvl4pPr>
              <a:defRPr sz="25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4pPr>
            <a:lvl5pPr>
              <a:defRPr sz="25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5pPr>
            <a:lvl6pPr>
              <a:defRPr sz="25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6pPr>
            <a:lvl7pPr>
              <a:defRPr sz="25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7pPr>
            <a:lvl8pPr>
              <a:defRPr sz="25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8pPr>
            <a:lvl9pPr>
              <a:defRPr sz="25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795A"/>
                </a:solidFill>
                <a:latin typeface="Calibri"/>
                <a:ea typeface="Calibri"/>
                <a:cs typeface="Calibri"/>
              </a:rPr>
              <a:t>At your tutorial</a:t>
            </a:r>
          </a:p>
        </p:txBody>
      </p:sp>
      <p:sp>
        <p:nvSpPr>
          <p:cNvPr id="6" name="tutorial-body">
            <a:extLst xmlns:a="http://schemas.openxmlformats.org/drawingml/2006/main">
              <a:ext uri="{FF2B5EF4-FFF2-40B4-BE49-F238E27FC236}">
                <a16:creationId xmlns:a16="http://schemas.microsoft.com/office/drawing/2014/main" id="{32836C22-2F1A-470D-85A1-8ACA444A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6286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Open your claim and the artifact or comparison behind sentence 2.</a:t>
            </a:r>
          </a:p>
          <a:p xmlns:a="http://schemas.openxmlformats.org/drawingml/2006/main">
            <a: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Explain why sentence 3 follows and what could challenge it.</a:t>
            </a:r>
          </a:p>
          <a:p xmlns:a="http://schemas.openxmlformats.org/drawingml/2006/main">
            <a: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Agree one specific next action.</a:t>
            </a:r>
          </a:p>
        </p:txBody>
      </p:sp>
      <p:sp>
        <p:nvSpPr>
          <p:cNvPr id="7" name="waiting">
            <a:extLst xmlns:a="http://schemas.openxmlformats.org/drawingml/2006/main">
              <a:ext uri="{FF2B5EF4-FFF2-40B4-BE49-F238E27FC236}">
                <a16:creationId xmlns:a16="http://schemas.microsoft.com/office/drawing/2014/main" id="{F8B04EF2-4DC8-4CE9-A485-64530F02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defPPr>
            <a:lvl1pPr>
              <a:defRPr sz="25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1pPr>
            <a:lvl2pPr>
              <a:defRPr sz="25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2pPr>
            <a:lvl3pPr>
              <a:defRPr sz="25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3pPr>
            <a:lvl4pPr>
              <a:defRPr sz="25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4pPr>
            <a:lvl5pPr>
              <a:defRPr sz="25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5pPr>
            <a:lvl6pPr>
              <a:defRPr sz="25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6pPr>
            <a:lvl7pPr>
              <a:defRPr sz="25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7pPr>
            <a:lvl8pPr>
              <a:defRPr sz="25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8pPr>
            <a:lvl9pPr>
              <a:defRPr sz="25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795A"/>
                </a:solidFill>
                <a:latin typeface="Calibri"/>
                <a:ea typeface="Calibri"/>
                <a:cs typeface="Calibri"/>
              </a:rPr>
              <a:t>While waiting</a:t>
            </a:r>
          </a:p>
        </p:txBody>
      </p:sp>
      <p:sp>
        <p:nvSpPr>
          <p:cNvPr id="8" name="waiting-body">
            <a:extLst xmlns:a="http://schemas.openxmlformats.org/drawingml/2006/main">
              <a:ext uri="{FF2B5EF4-FFF2-40B4-BE49-F238E27FC236}">
                <a16:creationId xmlns:a16="http://schemas.microsoft.com/office/drawing/2014/main" id="{C4ED581C-9EBD-433C-AF5E-85B412F6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95650"/>
            <a:ext cx="619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Read your journal for failures, surprises and changes of direction.</a:t>
            </a:r>
          </a:p>
          <a:p xmlns:a="http://schemas.openxmlformats.org/drawingml/2006/main">
            <a: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Identify evidence for a candidate finding.</a:t>
            </a:r>
          </a:p>
          <a:p xmlns:a="http://schemas.openxmlformats.org/drawingml/2006/main">
            <a:pPr>
              <a:defRPr sz="232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Build your outline and figure plan with the new agent.</a:t>
            </a:r>
          </a:p>
        </p:txBody>
      </p:sp>
      <p:sp>
        <p:nvSpPr>
          <p:cNvPr id="9" name="output">
            <a:extLst xmlns:a="http://schemas.openxmlformats.org/drawingml/2006/main">
              <a:ext uri="{FF2B5EF4-FFF2-40B4-BE49-F238E27FC236}">
                <a16:creationId xmlns:a16="http://schemas.microsoft.com/office/drawing/2014/main" id="{AEE58D92-67A9-45D6-ACB5-962F4E9F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1362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BEC2"/>
                </a:solidFill>
                <a:latin typeface="Calibri"/>
                <a:ea typeface="Calibri"/>
                <a:cs typeface="Calibri"/>
              </a:rPr>
              <a:t>Save in my_work/paper/: journal_analysis.md, outline.md and figure_plan.md.</a:t>
            </a:r>
          </a:p>
          <a:p xmlns:a="http://schemas.openxmlformats.org/drawingml/2006/main">
            <a: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BEC2"/>
                </a:solidFill>
                <a:latin typeface="Calibri"/>
                <a:ea typeface="Calibri"/>
                <a:cs typeface="Calibri"/>
              </a:rPr>
              <a:t>Keep class-project practice and final-project claims distinct; preserve dated versions.</a:t>
            </a:r>
          </a:p>
        </p:txBody>
      </p:sp>
    </p:spTree>
    <p:extLst>
      <p:ext uri="{BB962C8B-B14F-4D97-AF65-F5344CB8AC3E}">
        <p14:creationId xmlns:p14="http://schemas.microsoft.com/office/powerpoint/2010/main" val="3514317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21AC7914-CC34-4F13-ABF2-00655154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1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defPPr>
            <a:lvl1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1pPr>
            <a:lvl2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2pPr>
            <a:lvl3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3pPr>
            <a:lvl4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4pPr>
            <a:lvl5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5pPr>
            <a:lvl6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6pPr>
            <a:lvl7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7pPr>
            <a:lvl8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8pPr>
            <a:lvl9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pPr>
            <a:r>
              <a:rPr sz="4200" b="1">
                <a:solidFill>
                  <a:srgbClr val="F4F3F0"/>
                </a:solidFill>
                <a:latin typeface="Cambria"/>
                <a:ea typeface="Cambria"/>
                <a:cs typeface="Cambria"/>
              </a:rPr>
              <a:t>Findings in your existing record</a:t>
            </a:r>
          </a:p>
        </p:txBody>
      </p:sp>
      <p:sp>
        <p:nvSpPr>
          <p:cNvPr id="2" name="intro">
            <a:extLst xmlns:a="http://schemas.openxmlformats.org/drawingml/2006/main">
              <a:ext uri="{FF2B5EF4-FFF2-40B4-BE49-F238E27FC236}">
                <a16:creationId xmlns:a16="http://schemas.microsoft.com/office/drawing/2014/main" id="{A373CB35-1B14-4A91-9C08-D6E01624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BEC2"/>
                </a:solidFill>
                <a:latin typeface="Calibri"/>
                <a:ea typeface="Calibri"/>
                <a:cs typeface="Calibri"/>
              </a:rPr>
              <a:t>The journal gives you possible evidence. You still have to decide what that evidence supports.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4A54C22F-492A-426D-9FCF-7BC51805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58150"/>
            <a:ext cx="1238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defPPr>
            <a:lvl1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1pPr>
            <a:lvl2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2pPr>
            <a:lvl3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3pPr>
            <a:lvl4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4pPr>
            <a:lvl5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5pPr>
            <a:lvl6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6pPr>
            <a:lvl7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7pPr>
            <a:lvl8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8pPr>
            <a:lvl9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7BEC2"/>
                </a:solidFill>
                <a:latin typeface="Calibri"/>
                <a:ea typeface="Calibri"/>
                <a:cs typeface="Calibri"/>
              </a:rPr>
              <a:t>ARTD8105 · Session 10 · 28 October 2026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47416A8-C479-4E21-A273-645E6D43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defPPr>
            <a:lvl1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1pPr>
            <a:lvl2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2pPr>
            <a:lvl3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3pPr>
            <a:lvl4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4pPr>
            <a:lvl5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5pPr>
            <a:lvl6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6pPr>
            <a:lvl7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7pPr>
            <a:lvl8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8pPr>
            <a:lvl9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7BEC2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B74D524B-4C3F-48BA-AC01-BC178BB0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795A"/>
                </a:solidFill>
                <a:latin typeface="Calibri"/>
                <a:ea typeface="Calibri"/>
                <a:cs typeface="Calibri"/>
              </a:rPr>
              <a:t>1 · Find a moment</a:t>
            </a:r>
          </a:p>
        </p:txBody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473E4B1C-14FD-4752-AC05-8F0281DB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76500"/>
            <a:ext cx="10096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Mark an expected result, an actual result and a decision it changed. Quote the entry and record its date and file path.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2D3956DE-EC52-436A-8507-308EF1BC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795A"/>
                </a:solidFill>
                <a:latin typeface="Calibri"/>
                <a:ea typeface="Calibri"/>
                <a:cs typeface="Calibri"/>
              </a:rPr>
              <a:t>2 · Reopen the evidence</a:t>
            </a:r>
          </a:p>
        </p:txBody>
      </p:sp>
      <p:sp>
        <p:nvSpPr>
          <p:cNvPr id="8" name="body-1">
            <a:extLst xmlns:a="http://schemas.openxmlformats.org/drawingml/2006/main">
              <a:ext uri="{FF2B5EF4-FFF2-40B4-BE49-F238E27FC236}">
                <a16:creationId xmlns:a16="http://schemas.microsoft.com/office/drawing/2014/main" id="{00505B45-FFAF-43E0-8F5C-C85D491D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67125"/>
            <a:ext cx="10096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Inspect the artifact, settings and comparison. Separate what you can inspect now from what a historical journal reports.</a:t>
            </a:r>
          </a:p>
        </p:txBody>
      </p:sp>
      <p:sp>
        <p:nvSpPr>
          <p:cNvPr id="9" name="label-2">
            <a:extLst xmlns:a="http://schemas.openxmlformats.org/drawingml/2006/main">
              <a:ext uri="{FF2B5EF4-FFF2-40B4-BE49-F238E27FC236}">
                <a16:creationId xmlns:a16="http://schemas.microsoft.com/office/drawing/2014/main" id="{60868E5A-159A-4494-9F1C-1859FA2C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795A"/>
                </a:solidFill>
                <a:latin typeface="Calibri"/>
                <a:ea typeface="Calibri"/>
                <a:cs typeface="Calibri"/>
              </a:rPr>
              <a:t>3 · Test an interpretation</a:t>
            </a:r>
          </a:p>
        </p:txBody>
      </p:sp>
      <p:sp>
        <p:nvSpPr>
          <p:cNvPr id="10" name="body-2">
            <a:extLst xmlns:a="http://schemas.openxmlformats.org/drawingml/2006/main">
              <a:ext uri="{FF2B5EF4-FFF2-40B4-BE49-F238E27FC236}">
                <a16:creationId xmlns:a16="http://schemas.microsoft.com/office/drawing/2014/main" id="{590D2401-7142-466B-86C2-7A8F849F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57750"/>
            <a:ext cx="10096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Group related moments, then write a bounded claim. Ask what else could explain the result and what would count against it.</a:t>
            </a:r>
          </a:p>
        </p:txBody>
      </p:sp>
      <p:sp>
        <p:nvSpPr>
          <p:cNvPr id="11" name="label-3">
            <a:extLst xmlns:a="http://schemas.openxmlformats.org/drawingml/2006/main">
              <a:ext uri="{FF2B5EF4-FFF2-40B4-BE49-F238E27FC236}">
                <a16:creationId xmlns:a16="http://schemas.microsoft.com/office/drawing/2014/main" id="{6CD4BC75-8E03-47CE-B8C8-A0824B0B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48375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795A"/>
                </a:solidFill>
                <a:latin typeface="Calibri"/>
                <a:ea typeface="Calibri"/>
                <a:cs typeface="Calibri"/>
              </a:rPr>
              <a:t>4 · Name the next check</a:t>
            </a:r>
          </a:p>
        </p:txBody>
      </p:sp>
      <p:sp>
        <p:nvSpPr>
          <p:cNvPr id="12" name="body-3">
            <a:extLst xmlns:a="http://schemas.openxmlformats.org/drawingml/2006/main">
              <a:ext uri="{FF2B5EF4-FFF2-40B4-BE49-F238E27FC236}">
                <a16:creationId xmlns:a16="http://schemas.microsoft.com/office/drawing/2014/main" id="{1CAC886D-3C0D-45F7-82CD-F24C8399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048375"/>
            <a:ext cx="10096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If the evidence is insufficient, record “No finding yet” and one small comparison. Do not describe a prediction as an observation.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12F3816B-AFFF-432C-A467-D0FB08CF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86650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795A"/>
                </a:solidFill>
                <a:latin typeface="Calibri"/>
                <a:ea typeface="Calibri"/>
                <a:cs typeface="Calibri"/>
              </a:rPr>
              <a:t>A repeated account is not independent evidence; one well-supported case can still be useful.</a:t>
            </a:r>
          </a:p>
        </p:txBody>
      </p:sp>
    </p:spTree>
    <p:extLst>
      <p:ext uri="{BB962C8B-B14F-4D97-AF65-F5344CB8AC3E}">
        <p14:creationId xmlns:p14="http://schemas.microsoft.com/office/powerpoint/2010/main" val="13844918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87A7724A-A7A8-4066-A0B9-21FD3A53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1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defPPr>
            <a:lvl1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1pPr>
            <a:lvl2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2pPr>
            <a:lvl3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3pPr>
            <a:lvl4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4pPr>
            <a:lvl5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5pPr>
            <a:lvl6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6pPr>
            <a:lvl7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7pPr>
            <a:lvl8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8pPr>
            <a:lvl9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pPr>
            <a:r>
              <a:rPr sz="4200" b="1">
                <a:solidFill>
                  <a:srgbClr val="F4F3F0"/>
                </a:solidFill>
                <a:latin typeface="Cambria"/>
                <a:ea typeface="Cambria"/>
                <a:cs typeface="Cambria"/>
              </a:rPr>
              <a:t>Paper structure follows the argument</a:t>
            </a:r>
          </a:p>
        </p:txBody>
      </p:sp>
      <p:sp>
        <p:nvSpPr>
          <p:cNvPr id="2" name="intro">
            <a:extLst xmlns:a="http://schemas.openxmlformats.org/drawingml/2006/main">
              <a:ext uri="{FF2B5EF4-FFF2-40B4-BE49-F238E27FC236}">
                <a16:creationId xmlns:a16="http://schemas.microsoft.com/office/drawing/2014/main" id="{B15A938C-D493-444C-AB7F-F8E7F030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BEC2"/>
                </a:solidFill>
                <a:latin typeface="Calibri"/>
                <a:ea typeface="Calibri"/>
                <a:cs typeface="Calibri"/>
              </a:rPr>
              <a:t>Use your target venue and relevant accepted examples. Their section proportions are guides, not rules of acceptance.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0623D9B2-7FF3-4353-BCE9-2AC8C953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58150"/>
            <a:ext cx="1238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defPPr>
            <a:lvl1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1pPr>
            <a:lvl2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2pPr>
            <a:lvl3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3pPr>
            <a:lvl4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4pPr>
            <a:lvl5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5pPr>
            <a:lvl6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6pPr>
            <a:lvl7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7pPr>
            <a:lvl8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8pPr>
            <a:lvl9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7BEC2"/>
                </a:solidFill>
                <a:latin typeface="Calibri"/>
                <a:ea typeface="Calibri"/>
                <a:cs typeface="Calibri"/>
              </a:rPr>
              <a:t>ARTD8105 · Session 10 · 28 October 2026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F84A865-1CD7-4C02-85ED-41F16D2F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defPPr>
            <a:lvl1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1pPr>
            <a:lvl2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2pPr>
            <a:lvl3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3pPr>
            <a:lvl4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4pPr>
            <a:lvl5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5pPr>
            <a:lvl6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6pPr>
            <a:lvl7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7pPr>
            <a:lvl8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8pPr>
            <a:lvl9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7BEC2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DF4D0BF2-6DE8-4CD6-B54E-AA4975D4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795A"/>
                </a:solidFill>
                <a:latin typeface="Calibri"/>
                <a:ea typeface="Calibri"/>
                <a:cs typeface="Calibri"/>
              </a:rPr>
              <a:t>Venue and paper type</a:t>
            </a:r>
          </a:p>
        </p:txBody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F2E6011A-B6DD-488E-9F74-AFB10C49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76500"/>
            <a:ext cx="10096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Check the official format and length limit. Choose an argument structure that suits your contribution; a reflective paper need not imitate an experiment report.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D5535BDC-CC7E-42F8-8286-166485E0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795A"/>
                </a:solidFill>
                <a:latin typeface="Calibri"/>
                <a:ea typeface="Calibri"/>
                <a:cs typeface="Calibri"/>
              </a:rPr>
              <a:t>Evidence and figures</a:t>
            </a:r>
          </a:p>
        </p:txBody>
      </p:sp>
      <p:sp>
        <p:nvSpPr>
          <p:cNvPr id="8" name="body-1">
            <a:extLst xmlns:a="http://schemas.openxmlformats.org/drawingml/2006/main">
              <a:ext uri="{FF2B5EF4-FFF2-40B4-BE49-F238E27FC236}">
                <a16:creationId xmlns:a16="http://schemas.microsoft.com/office/drawing/2014/main" id="{1516FD10-6917-4C5F-A905-C4C3E961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67125"/>
            <a:ext cx="10096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Plan each figure before drafting: what it shows, which claim it supports, its source path and whether it exists or still needs making.</a:t>
            </a:r>
          </a:p>
        </p:txBody>
      </p:sp>
      <p:sp>
        <p:nvSpPr>
          <p:cNvPr id="9" name="label-2">
            <a:extLst xmlns:a="http://schemas.openxmlformats.org/drawingml/2006/main">
              <a:ext uri="{FF2B5EF4-FFF2-40B4-BE49-F238E27FC236}">
                <a16:creationId xmlns:a16="http://schemas.microsoft.com/office/drawing/2014/main" id="{3DFBA4DB-7D59-4E1E-A0AA-7B0A083A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795A"/>
                </a:solidFill>
                <a:latin typeface="Calibri"/>
                <a:ea typeface="Calibri"/>
                <a:cs typeface="Calibri"/>
              </a:rPr>
              <a:t>Section jobs</a:t>
            </a:r>
          </a:p>
        </p:txBody>
      </p:sp>
      <p:sp>
        <p:nvSpPr>
          <p:cNvPr id="10" name="body-2">
            <a:extLst xmlns:a="http://schemas.openxmlformats.org/drawingml/2006/main">
              <a:ext uri="{FF2B5EF4-FFF2-40B4-BE49-F238E27FC236}">
                <a16:creationId xmlns:a16="http://schemas.microsoft.com/office/drawing/2014/main" id="{07F3E700-2C24-420E-B19C-5A5E70A5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57750"/>
            <a:ext cx="10096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For every section, state what the reader must understand, the evidence it uses and what is missing. Avoid a chronological project diary.</a:t>
            </a:r>
          </a:p>
        </p:txBody>
      </p:sp>
      <p:sp>
        <p:nvSpPr>
          <p:cNvPr id="11" name="label-3">
            <a:extLst xmlns:a="http://schemas.openxmlformats.org/drawingml/2006/main">
              <a:ext uri="{FF2B5EF4-FFF2-40B4-BE49-F238E27FC236}">
                <a16:creationId xmlns:a16="http://schemas.microsoft.com/office/drawing/2014/main" id="{ECFC5C8F-22C3-4237-B71A-98E97D8B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48375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795A"/>
                </a:solidFill>
                <a:latin typeface="Calibri"/>
                <a:ea typeface="Calibri"/>
                <a:cs typeface="Calibri"/>
              </a:rPr>
              <a:t>Working word budget</a:t>
            </a:r>
          </a:p>
        </p:txBody>
      </p:sp>
      <p:sp>
        <p:nvSpPr>
          <p:cNvPr id="12" name="body-3">
            <a:extLst xmlns:a="http://schemas.openxmlformats.org/drawingml/2006/main">
              <a:ext uri="{FF2B5EF4-FFF2-40B4-BE49-F238E27FC236}">
                <a16:creationId xmlns:a16="http://schemas.microsoft.com/office/drawing/2014/main" id="{AAC01D72-8999-4322-8D38-A6CA48EC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048375"/>
            <a:ext cx="10096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Allocate space within the venue’s actual limit and check the total. Follow its rules for counting captions, abstract and references.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1FED5DE1-6B31-4917-92CC-BDC9E1FA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86650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795A"/>
                </a:solidFill>
                <a:latin typeface="Calibri"/>
                <a:ea typeface="Calibri"/>
                <a:cs typeface="Calibri"/>
              </a:rPr>
              <a:t>Your outline should make the weakest evidence visible while there is still time to produce it.</a:t>
            </a:r>
          </a:p>
        </p:txBody>
      </p:sp>
    </p:spTree>
    <p:extLst>
      <p:ext uri="{BB962C8B-B14F-4D97-AF65-F5344CB8AC3E}">
        <p14:creationId xmlns:p14="http://schemas.microsoft.com/office/powerpoint/2010/main" val="5896880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E87979CB-7590-49A1-8E9A-3B570532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1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defPPr>
            <a:lvl1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1pPr>
            <a:lvl2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2pPr>
            <a:lvl3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3pPr>
            <a:lvl4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4pPr>
            <a:lvl5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5pPr>
            <a:lvl6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6pPr>
            <a:lvl7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7pPr>
            <a:lvl8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8pPr>
            <a:lvl9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pPr>
            <a:r>
              <a:rPr sz="4200" b="1">
                <a:solidFill>
                  <a:srgbClr val="F4F3F0"/>
                </a:solidFill>
                <a:latin typeface="Cambria"/>
                <a:ea typeface="Cambria"/>
                <a:cs typeface="Cambria"/>
              </a:rPr>
              <a:t>Drafting one evidenced section at a time</a:t>
            </a:r>
          </a:p>
        </p:txBody>
      </p:sp>
      <p:sp>
        <p:nvSpPr>
          <p:cNvPr id="2" name="intro">
            <a:extLst xmlns:a="http://schemas.openxmlformats.org/drawingml/2006/main">
              <a:ext uri="{FF2B5EF4-FFF2-40B4-BE49-F238E27FC236}">
                <a16:creationId xmlns:a16="http://schemas.microsoft.com/office/drawing/2014/main" id="{5DE5E3F2-1D37-4B9F-ABE0-01202D51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BEC2"/>
                </a:solidFill>
                <a:latin typeface="Calibri"/>
                <a:ea typeface="Calibri"/>
                <a:cs typeface="Calibri"/>
              </a:rPr>
              <a:t>You write the argument and prose. The agent checks sources, asks questions, critiques reasoning and helps with language.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22D10218-DDDE-4837-A4F0-44829EEC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58150"/>
            <a:ext cx="1238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defPPr>
            <a:lvl1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1pPr>
            <a:lvl2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2pPr>
            <a:lvl3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3pPr>
            <a:lvl4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4pPr>
            <a:lvl5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5pPr>
            <a:lvl6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6pPr>
            <a:lvl7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7pPr>
            <a:lvl8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8pPr>
            <a:lvl9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7BEC2"/>
                </a:solidFill>
                <a:latin typeface="Calibri"/>
                <a:ea typeface="Calibri"/>
                <a:cs typeface="Calibri"/>
              </a:rPr>
              <a:t>ARTD8105 · Session 10 · 28 October 2026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2F861F2-D0CE-468C-BF13-5CA3CEA0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defPPr>
            <a:lvl1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1pPr>
            <a:lvl2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2pPr>
            <a:lvl3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3pPr>
            <a:lvl4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4pPr>
            <a:lvl5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5pPr>
            <a:lvl6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6pPr>
            <a:lvl7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7pPr>
            <a:lvl8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8pPr>
            <a:lvl9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7BEC2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89FA6041-6329-4270-AB31-8B4B6551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795A"/>
                </a:solidFill>
                <a:latin typeface="Calibri"/>
                <a:ea typeface="Calibri"/>
                <a:cs typeface="Calibri"/>
              </a:rPr>
              <a:t>Plan the next passage</a:t>
            </a:r>
          </a:p>
        </p:txBody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31FFCBC9-A3B5-4933-8EB0-D69BF473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76500"/>
            <a:ext cx="10096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Start with the figure plan, making/analysis approach and selected evidence. Give the section a clear job and a working length.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03252DA1-591F-4294-88F4-3B0D2D5F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795A"/>
                </a:solidFill>
                <a:latin typeface="Calibri"/>
                <a:ea typeface="Calibri"/>
                <a:cs typeface="Calibri"/>
              </a:rPr>
              <a:t>Write, then challenge</a:t>
            </a:r>
          </a:p>
        </p:txBody>
      </p:sp>
      <p:sp>
        <p:nvSpPr>
          <p:cNvPr id="8" name="body-1">
            <a:extLst xmlns:a="http://schemas.openxmlformats.org/drawingml/2006/main">
              <a:ext uri="{FF2B5EF4-FFF2-40B4-BE49-F238E27FC236}">
                <a16:creationId xmlns:a16="http://schemas.microsoft.com/office/drawing/2014/main" id="{C9402B1F-93B1-4D0B-8475-53006CA1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67125"/>
            <a:ext cx="10096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Write a short passage. Ask whether its evidence supports the wording, what alternative remains and how it advances the paper’s contribution.</a:t>
            </a:r>
          </a:p>
        </p:txBody>
      </p:sp>
      <p:sp>
        <p:nvSpPr>
          <p:cNvPr id="9" name="label-2">
            <a:extLst xmlns:a="http://schemas.openxmlformats.org/drawingml/2006/main">
              <a:ext uri="{FF2B5EF4-FFF2-40B4-BE49-F238E27FC236}">
                <a16:creationId xmlns:a16="http://schemas.microsoft.com/office/drawing/2014/main" id="{02D3DAE9-FAA3-42ED-8F82-4F2E6BFA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795A"/>
                </a:solidFill>
                <a:latin typeface="Calibri"/>
                <a:ea typeface="Calibri"/>
                <a:cs typeface="Calibri"/>
              </a:rPr>
              <a:t>Keep gaps explicit</a:t>
            </a:r>
          </a:p>
        </p:txBody>
      </p:sp>
      <p:sp>
        <p:nvSpPr>
          <p:cNvPr id="10" name="body-2">
            <a:extLst xmlns:a="http://schemas.openxmlformats.org/drawingml/2006/main">
              <a:ext uri="{FF2B5EF4-FFF2-40B4-BE49-F238E27FC236}">
                <a16:creationId xmlns:a16="http://schemas.microsoft.com/office/drawing/2014/main" id="{192D9A07-9E05-4965-BBE2-CAA533E4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57750"/>
            <a:ext cx="10096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Use a specific evidence, figure or source marker when work is missing. A missing result stays missing; a planned user benefit stays a prediction.</a:t>
            </a:r>
          </a:p>
        </p:txBody>
      </p:sp>
      <p:sp>
        <p:nvSpPr>
          <p:cNvPr id="11" name="label-3">
            <a:extLst xmlns:a="http://schemas.openxmlformats.org/drawingml/2006/main">
              <a:ext uri="{FF2B5EF4-FFF2-40B4-BE49-F238E27FC236}">
                <a16:creationId xmlns:a16="http://schemas.microsoft.com/office/drawing/2014/main" id="{D2B46A1D-C761-4DDB-A225-B87BCF80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48375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795A"/>
                </a:solidFill>
                <a:latin typeface="Calibri"/>
                <a:ea typeface="Calibri"/>
                <a:cs typeface="Calibri"/>
              </a:rPr>
              <a:t>Assemble the full draft</a:t>
            </a:r>
          </a:p>
        </p:txBody>
      </p:sp>
      <p:sp>
        <p:nvSpPr>
          <p:cNvPr id="12" name="body-3">
            <a:extLst xmlns:a="http://schemas.openxmlformats.org/drawingml/2006/main">
              <a:ext uri="{FF2B5EF4-FFF2-40B4-BE49-F238E27FC236}">
                <a16:creationId xmlns:a16="http://schemas.microsoft.com/office/drawing/2014/main" id="{BB72609B-D2AF-4926-8BFD-BBD4C16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048375"/>
            <a:ext cx="10096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Develop discussion and related work, then write the introduction, abstract and title to match the body. Recheck scope, citations and figure references.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027079E9-619B-400D-B292-2FE479D9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866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F795A"/>
                </a:solidFill>
                <a:latin typeface="Calibri"/>
                <a:ea typeface="Calibri"/>
                <a:cs typeface="Calibri"/>
              </a:rPr>
              <a:t>Preserve rejected wording and consequential decisions in your record. Do not substitute an agent’s draft for your own.</a:t>
            </a:r>
          </a:p>
        </p:txBody>
      </p:sp>
    </p:spTree>
    <p:extLst>
      <p:ext uri="{BB962C8B-B14F-4D97-AF65-F5344CB8AC3E}">
        <p14:creationId xmlns:p14="http://schemas.microsoft.com/office/powerpoint/2010/main" val="1865642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DF7C08D1-AE7B-46C1-8D65-7F8BEAAE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81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defPPr>
            <a:lvl1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1pPr>
            <a:lvl2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2pPr>
            <a:lvl3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3pPr>
            <a:lvl4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4pPr>
            <a:lvl5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5pPr>
            <a:lvl6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6pPr>
            <a:lvl7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7pPr>
            <a:lvl8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8pPr>
            <a:lvl9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F4F3F0"/>
                </a:solidFill>
                <a:latin typeface="Cambria"/>
                <a:ea typeface="Cambria"/>
                <a:cs typeface="Cambria"/>
              </a:defRPr>
            </a:pPr>
            <a:r>
              <a:rPr sz="4200" b="1">
                <a:solidFill>
                  <a:srgbClr val="F4F3F0"/>
                </a:solidFill>
                <a:latin typeface="Cambria"/>
                <a:ea typeface="Cambria"/>
                <a:cs typeface="Cambria"/>
              </a:rPr>
              <a:t>Starting the guided projects</a:t>
            </a:r>
          </a:p>
        </p:txBody>
      </p:sp>
      <p:sp>
        <p:nvSpPr>
          <p:cNvPr id="2" name="intro">
            <a:extLst xmlns:a="http://schemas.openxmlformats.org/drawingml/2006/main">
              <a:ext uri="{FF2B5EF4-FFF2-40B4-BE49-F238E27FC236}">
                <a16:creationId xmlns:a16="http://schemas.microsoft.com/office/drawing/2014/main" id="{B87FCEF8-1FD7-4696-9BB0-195EE888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BEC2"/>
                </a:solidFill>
                <a:latin typeface="Calibri"/>
                <a:ea typeface="Calibri"/>
                <a:cs typeface="Calibri"/>
              </a:rPr>
              <a:t>Get the latest course files in Cursor. Then use one of these prompts. The agent will guide you one step at a time.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CD9C1D85-7EE1-4296-8F3D-17F28BB7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58150"/>
            <a:ext cx="1238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defPPr>
            <a:lvl1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1pPr>
            <a:lvl2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2pPr>
            <a:lvl3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3pPr>
            <a:lvl4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4pPr>
            <a:lvl5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5pPr>
            <a:lvl6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6pPr>
            <a:lvl7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7pPr>
            <a:lvl8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8pPr>
            <a:lvl9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7BEC2"/>
                </a:solidFill>
                <a:latin typeface="Calibri"/>
                <a:ea typeface="Calibri"/>
                <a:cs typeface="Calibri"/>
              </a:rPr>
              <a:t>ARTD8105 · Session 10 · 28 October 2026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DD58377-5BE5-4F81-B02D-2C7866A7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defPPr>
            <a:lvl1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1pPr>
            <a:lvl2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2pPr>
            <a:lvl3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3pPr>
            <a:lvl4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4pPr>
            <a:lvl5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5pPr>
            <a:lvl6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6pPr>
            <a:lvl7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7pPr>
            <a:lvl8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8pPr>
            <a:lvl9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7BEC2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7BEC2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5" name="start-1">
            <a:extLst xmlns:a="http://schemas.openxmlformats.org/drawingml/2006/main">
              <a:ext uri="{FF2B5EF4-FFF2-40B4-BE49-F238E27FC236}">
                <a16:creationId xmlns:a16="http://schemas.microsoft.com/office/drawing/2014/main" id="{97DEDB57-1FBA-4317-9B5F-B63757A7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FF795A"/>
                </a:solidFill>
                <a:latin typeface="Calibri"/>
                <a:ea typeface="Calibri"/>
                <a:cs typeface="Calibri"/>
              </a:rPr>
              <a:t>Journal analysis and structure</a:t>
            </a:r>
          </a:p>
        </p:txBody>
      </p:sp>
      <p:sp>
        <p:nvSpPr>
          <p:cNvPr id="6" name="prompt-1">
            <a:extLst xmlns:a="http://schemas.openxmlformats.org/drawingml/2006/main">
              <a:ext uri="{FF2B5EF4-FFF2-40B4-BE49-F238E27FC236}">
                <a16:creationId xmlns:a16="http://schemas.microsoft.com/office/drawing/2014/main" id="{00BD4423-58EB-45A8-8061-02EABFBF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1362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Read projects/10_journal_to_structure/journal_structure_agent.md</a:t>
            </a:r>
          </a:p>
          <a:p xmlns:a="http://schemas.openxmlformats.org/drawingml/2006/main">
            <a: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and guide me through it using my existing claim and evidence.</a:t>
            </a:r>
          </a:p>
        </p:txBody>
      </p:sp>
      <p:sp>
        <p:nvSpPr>
          <p:cNvPr id="7" name="start-2">
            <a:extLst xmlns:a="http://schemas.openxmlformats.org/drawingml/2006/main">
              <a:ext uri="{FF2B5EF4-FFF2-40B4-BE49-F238E27FC236}">
                <a16:creationId xmlns:a16="http://schemas.microsoft.com/office/drawing/2014/main" id="{ACD9558B-9D4B-452B-ADAD-FA2469A9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795A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FF795A"/>
                </a:solidFill>
                <a:latin typeface="Calibri"/>
                <a:ea typeface="Calibri"/>
                <a:cs typeface="Calibri"/>
              </a:rPr>
              <a:t>Drafting your paper</a:t>
            </a:r>
          </a:p>
        </p:txBody>
      </p:sp>
      <p:sp>
        <p:nvSpPr>
          <p:cNvPr id="8" name="prompt-2">
            <a:extLst xmlns:a="http://schemas.openxmlformats.org/drawingml/2006/main">
              <a:ext uri="{FF2B5EF4-FFF2-40B4-BE49-F238E27FC236}">
                <a16:creationId xmlns:a16="http://schemas.microsoft.com/office/drawing/2014/main" id="{AC95E1E9-6542-4610-AFDB-44662AE3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362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Read projects/11_paper_draft/drafting_agent.md.</a:t>
            </a:r>
          </a:p>
          <a:p xmlns:a="http://schemas.openxmlformats.org/drawingml/2006/main">
            <a:pPr>
              <a:defRPr sz="2175" b="0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Help me develop my own paper one section at a time.</a:t>
            </a:r>
          </a:p>
        </p:txBody>
      </p:sp>
      <p:sp>
        <p:nvSpPr>
          <p:cNvPr id="9" name="deadline">
            <a:extLst xmlns:a="http://schemas.openxmlformats.org/drawingml/2006/main">
              <a:ext uri="{FF2B5EF4-FFF2-40B4-BE49-F238E27FC236}">
                <a16:creationId xmlns:a16="http://schemas.microsoft.com/office/drawing/2014/main" id="{104F1604-543C-4B98-A5F1-45277652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29400"/>
            <a:ext cx="1362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Draft v1 + figure plan: 11 November · replaces 4 November</a:t>
            </a:r>
          </a:p>
          <a:p xmlns:a="http://schemas.openxmlformats.org/drawingml/2006/main">
            <a:pPr>
              <a:defRPr sz="2175" b="1">
                <a:solidFill>
                  <a:srgbClr val="F4F3F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4F3F0"/>
                </a:solidFill>
                <a:latin typeface="Calibri"/>
                <a:ea typeface="Calibri"/>
                <a:cs typeface="Calibri"/>
              </a:rPr>
              <a:t>Save my_work/paper/draft_v1.md and figure_plan.md. Commit and push to your own GitHub repository.</a:t>
            </a:r>
          </a:p>
        </p:txBody>
      </p:sp>
    </p:spTree>
    <p:extLst>
      <p:ext uri="{BB962C8B-B14F-4D97-AF65-F5344CB8AC3E}">
        <p14:creationId xmlns:p14="http://schemas.microsoft.com/office/powerpoint/2010/main" val="697674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2026-10-27T13:08:32.5820000Z</dcterms:created>
  <dcterms:modified xsi:type="dcterms:W3CDTF">2026-10-27T13:08:32.5820000Z</dcterms:modified>
</coreProperties>
</file>